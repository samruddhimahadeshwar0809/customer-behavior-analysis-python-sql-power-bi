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5.xml" ContentType="application/vnd.openxmlformats-officedocument.presentationml.notesSlide+xml"/>
  <Override PartName="/ppt/ink/ink1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8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9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notesSlides/notesSlide10.xml" ContentType="application/vnd.openxmlformats-officedocument.presentationml.notesSlide+xml"/>
  <Override PartName="/ppt/ink/ink27.xml" ContentType="application/inkml+xml"/>
  <Override PartName="/ppt/ink/ink28.xml" ContentType="application/inkml+xml"/>
  <Override PartName="/ppt/notesSlides/notesSlide11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DM Sans" pitchFamily="2" charset="0"/>
      <p:regular r:id="rId19"/>
    </p:embeddedFont>
    <p:embeddedFont>
      <p:font typeface="Libre Baskerville" panose="02000000000000000000" pitchFamily="2" charset="0"/>
      <p:regular r:id="rId20"/>
      <p:bold r:id="rId21"/>
    </p:embeddedFont>
    <p:embeddedFont>
      <p:font typeface="Raleway" pitchFamily="2" charset="0"/>
      <p:regular r:id="rId22"/>
    </p:embeddedFont>
    <p:embeddedFont>
      <p:font typeface="Roboto" panose="02000000000000000000" pitchFamily="2" charset="0"/>
      <p:regular r:id="rId23"/>
    </p:embeddedFont>
    <p:embeddedFont>
      <p:font typeface="Roboto 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28:00.56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1618 9830,'515'10'10910,"-43"0"-5523,-4-12-5293,302 4-101,-434 18 7,-317-17 0,0 1 0,30 9 0,-37-9 0,1 0 0,0-1 0,0 0 0,0-1 0,0-1 0,0 0 0,17-1 0,-30 0 0,0 0 0,1 0 0,-1 0 0,0 0 0,0 0 0,1 0 0,-1 0 0,0 0 0,1 0 0,-1 0 0,0 0 0,0 0 0,1 0 0,-1 0 0,0 0 0,1-1 0,-1 1 0,0 0 0,0 0 0,1 0 0,-1-1 0,0 1 0,0 0 0,0 0 0,1 0 0,-1-1 0,0 1 0,0 0 0,0-1 0,0 1 0,0 0 0,1 0 0,-1-1 0,0 1 0,-7-11 0,-18-9 0,21 18 0,-1256-885-16384,1064 751 16384,-236-214 0,335 266 273,-149-99 0,243 181-206,0 0-1,1 0 1,-1 1-1,0-1 1,-1 1-1,1-1 1,0 1 0,0 0-1,0 0 1,-1 0-1,1 1 1,-1-1-1,1 1 1,-4 0-1,5 0-26,1 1-1,-1-1 1,1 1 0,-1 0-1,1 0 1,-1 0-1,1-1 1,-1 1-1,1 1 1,0-1-1,0 0 1,-1 0-1,1 0 1,0 1 0,0-1-1,0 0 1,0 1-1,1-1 1,-1 1-1,0-1 1,1 1-1,-1 0 1,1-1-1,-1 1 1,1 0-1,0-1 1,-1 1 0,1 0-1,0 2 1,-1 8 164,-1 1 1,1 0 0,1 0 0,1-1 0,0 1-1,0 0 1,1 0 0,1-1 0,0 0 0,0 1-1,9 17 1,-12-30-196,0 1 0,0-1-1,0 0 1,0 0 0,0 1-1,0-1 1,0 0 0,0 0-1,1 1 1,-1-1 0,0 0-1,0 0 1,0 0 0,0 1-1,0-1 1,0 0 0,1 0-1,-1 0 1,0 1 0,0-1-1,0 0 1,1 0 0,-1 0-1,0 0 1,0 0 0,0 0-1,1 1 1,-1-1 0,0 0-1,0 0 1,1 0 0,-1 0-1,0 0 1,0 0 0,0 0-1,1 0 1,-1 0 0,0 0-1,0 0 1,1 0 0,-1 0-1,0 0 1,0 0 0,1 0-1,-1-1 1,0 1 0,0 0-1,0 0 1,1 0 0,-1 0-1,0-1 1,6-16-44,-2-22-217,-5 28 180,0-1-1,0 1 0,-1 0 1,-5-14-1,7 24 70,-4-13-13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28:28.9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23 19618,'2404'0'0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29:45.17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4 18036,'2599'0'0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29:48.0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1 1 4915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29:51.8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 1 4915,'11'0'190,"0"1"0,0 0-1,0 1 1,0 0 0,-1 1-1,1 0 1,18 8 0,-5 1 195,-1 1 0,23 17-1,3-3 335,-38-21-524,0-1 1,0 1 0,-1 1-1,17 13 1,-20-14-55,2 0 0,-1 0-1,1-1 1,-1 0 0,11 4 0,-11-6-27,-1 0 1,1 1 0,-1 0-1,0 1 1,0 0 0,-1 0-1,1 0 1,9 11 0,-13-12-48,1-1-1,1 1 1,-1 0 0,0-1 0,1 0-1,0 0 1,0 0 0,0-1 0,0 1-1,0-1 1,0 0 0,1-1 0,-1 1-1,0-1 1,1 0 0,-1-1 0,1 1-1,0-1 1,-1 0 0,1-1 0,-1 1-1,1-1 1,-1 0 0,1 0 0,-1-1-1,10-3 1,-15 5-57,0 0-1,1 0 1,-1 0 0,0 0 0,0 0-1,1 0 1,-1 0 0,0 0-1,0 0 1,1 0 0,-1 0 0,0 0-1,0 0 1,1-1 0,-1 1-1,0 0 1,0 0 0,1 0-1,-1 0 1,0 0 0,0-1 0,1 1-1,-1 0 1,0 0 0,0 0-1,0 0 1,0-1 0,1 1 0,-1 0-1,0 0 1,0-1 0,0 1-1,0 0 1,0 0 0,0-1 0,0 1-1,0 0 1,0 0 0,0-1-1,1 1 1,-1 0 0,0 0-1,0-1 1,-1 1 0,1-1 0,-14-3 274,-23 2 66,-489 3 4516,510-1-4649,1 2-1,-1 0 0,0 1 0,-23 7 1,84-15 834,391-83 843,-410 83-1894,7-2 0,1 2 0,54-1 0,-5 5 0,69 4 0,-87 6 0,-41-5 0,37 2 0,70 4 0,16 0 0,-21 0 0,5-1 0,-111-9 0,1 0 0,0 2 0,40 7 0,-29-3 0,-1-2 0,1-2 0,-1 0 0,33-4 0,-29 0 0,0 3 0,0 0 0,34 7 0,8 1 0,-52-7 0,37 7 0,117 26 0,-165-34-1092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0:11.2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108 344 4915,'99'-1'1419,"111"3"556,-132 7-1302,-50-4-184,47 1 1,213 8 2256,-206-8-1480,115-6 0,-81-2-194,-70 0-172,86-16-1,-86 10-11,86-4-1,-98 12-442,0-1 1,51-9-1,22-2 743,-32 4-669,9-1-510,-38 5-9,72-17 0,-81 12 0,0 1 0,1 2 0,0 1 0,45 1 0,-5 6 0,119-4 0,-155-7-12,-40 9 6,-1-1-1,0 1 1,1-1-1,-1 1 1,1-1 0,-1 1-1,0-1 1,0 0-1,1 0 1,-1 0 0,0 0-1,0 0 1,0 0-1,0 0 1,0 0 0,0 0-1,0-1 1,0 1-1,-1 0 1,1-1-1,0 1 1,-1 0 0,1-1-1,-1 1 1,1-3-1,-1 3 8,0 0-1,-1 0 0,1 0 0,0 0 0,-1 0 1,1 0-1,-1 0 0,1 1 0,-1-1 0,0 0 0,1 0 1,-1 0-1,0 0 0,0 1 0,1-1 0,-1 0 0,0 1 1,0-1-1,0 1 0,0-1 0,0 1 0,0-1 0,0 1 1,0 0-1,0-1 0,0 1 0,0 0 0,0 0 1,-2-1-1,-35-2 3,34 3-3,-31-3 6,1-1-1,-49-12 0,54 10-2,-10 0 2,0 2 0,0 2 0,-65 5 0,54-1 5,-79-7-1,-80-10 21,-216 12-1,212 5-10,66 0-5,-159-4 6,276-2-20,1-1 0,-53-15 0,55 11 0,-1 2 0,0 2 0,-42-4 0,32 5 0,-60-12 0,64 9 0,0 2 0,-55-2 0,71 6 0,0-1 0,-25-5 0,25 3 0,-1 1 0,-21 0 0,15 4 0,19 0 0,0 0 0,1 0 0,-1-1 0,0 0 0,0 0 0,0-1 0,1 0 0,-1 0 0,0 0 0,1-1 0,-9-3 0,10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0:17.1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 1 12338,'140'47'0,"230"-47"0,-510-47 0,-230 47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1:06.3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16428,'2501'0'0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1:24.1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1 156 20788,'2676'-156'0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1:27.61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2890 64 4915,'-31'-2'685,"0"-1"-1,-47-11 1,43 7 75,-53-5 0,27 10-430,24 2 76,0-2-1,-38-7 1,28 3 230,-1 2 0,1 2 1,-55 4-1,9 0 93,-577-1 6116,0-2-3846,-53 1-3216,706 0 217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1:32.8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0 293 15750,'2423'-292'0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2:00.00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1427 1 4915,'0'0'24,"-1"0"1,0 0-1,0 1 0,1-1 1,-1 0-1,0 1 0,1-1 1,-1 0-1,0 1 0,1-1 1,-1 1-1,1-1 0,-1 1 1,1-1-1,-1 1 0,1 0 1,-1-1-1,1 1 0,0 0 1,-1-1-1,1 1 0,0 0 1,0-1-1,-1 1 0,1 1 1,-7 24 239,5-13-80,-2-2-30,-1 0 0,1 0 0,-2 0 0,1 0 0,-2-1 0,1 0 0,-1 0 0,-1-1 0,-10 11 0,12-15-61,0 0-1,-1 0 1,1 0-1,-1-1 1,0 0-1,0 0 1,-1-1-1,1 0 1,-1-1-1,0 1 1,1-1-1,-1-1 1,0 1-1,-15-1 1,-1 0 225,0 1 0,0 0 0,0 2 0,-37 11 1,32-9 36,-1 0 1,0-3-1,0 0 0,0-2 1,-53-4-1,2 1 396,55 3-252,-44 8 0,44-5-7,-46 2 1,32-6-127,12-2 38,1 3 0,-1 0 0,-53 10 0,58-7-134,0-1 1,0 0-1,0-2 0,0-1 1,-29-3-1,49 2-252,0 1 0,0-1 0,0 0-1,0 0 1,1 0 0,-1 0 0,0 0 0,1-1 0,-1 1 0,1-1 0,-1 1 0,1-1-1,0 0 1,0 0 0,-3-4 0,-25-39-385,1 1 467,25 40-82,0 0 0,1 0 1,-2 0-1,1 1 1,0-1-1,-1 1 0,1 0 1,-1 1-1,0-1 1,0 1-1,0 0 0,-9-3 1,8 4-12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2:23.5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21 21103,'2442'-20'0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2:27.8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4915,'2'57'1119,"12"82"-1,-14-132-1093,6 16 370,-1-21-237,4-13-187,-5 2 9,-1 0 0,1 0 1,-2 0-1,1 0 1,-2 0-1,1 0 0,0-12 1,-2 14 47,0 0-1,1 0 1,0 0 0,1 0 0,-1 0 0,1 0 0,1 0 0,-1 1 0,1-1 0,0 1 0,1 0 0,-1-1 0,7-7 0,3-4 255,-12 11-257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2:33.14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2455 176 4915,'-65'-15'1186,"-32"8"260,-124 7-1,85 3-221,112-4-1042,-2 1 178,0 0 0,0 2 0,-46 8 0,39-4 34,1-2-1,-1-2 1,0-1 0,-42-4-1,-4 1 342,62 1-558,13 1-125,-1-1 0,1 1-1,0-1 1,-1 1 0,1 0 0,-1 1-1,1-1 1,0 1 0,-1 0-1,1 0 1,0 1 0,0-1 0,-5 3-1,9-4-37,0 1 1,0-1-1,1 1 0,-1-1 0,0 1 0,0-1 0,1 0 0,-1 1 0,0-1 0,1 1 0,-1-1 0,0 0 0,1 1 0,-1-1 0,1 0 0,-1 1 1,0-1-1,1 0 0,-1 0 0,1 1 0,-1-1 0,1 0 0,-1 0 0,1 0 0,-1 0 0,1 0 0,-1 0 0,1 0 0,-1 0 0,1 0 0,-1 0 1,1 0-1,-1 0 0,2 0 0,21 3 214,58-2 1262,114-12 0,-82 2-427,-7 1-235,145-4 1069,-176 11-1891,68 3-6,-136-1 0,1 0 0,-1 1 0,0-1 0,0 1 0,12 6 0,-72 9 0,-4-9 0,-58 2 0,-5 1 0,-183 42 0,-61 6 0,107-55 0,141-6 0,93 1 0,0-2 0,0-1 0,0 0 0,-31-12 0,-42-8 0,62 19 0,9 2 0,1-1 0,-43-14 0,47 12 0,0 1 0,-32-4 0,29 6 0,-39-11 0,26 5 0,-63-9 0,56 12 0,-9 1 0,0 2 0,-70 5 0,28 0 0,145-2-11,35 1-45,153-18-1,714-105-749,-847 110 746,310-14 379,-407 26-311,36 4 29,-33 0-34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2:44.72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22726,'0'283'0,"2536"-283"0,-2536-283 0,-2536 283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11.1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347 349 22501,'2229'-349'0,"-4805"351"0,2923 345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20.85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923 167 4915,'2'36'705,"-1"-25"-574,0 0 0,-1 0 0,0 0 0,-1 0 0,0 0 0,-5 19 0,2-24-16,-1-1 0,0 1 0,0-1 0,0 0 0,-1 0 0,0 0-1,0-1 1,0 0 0,0 0 0,-11 5 0,4-1 92,-24 16 448,2 3 0,-41 39 0,70-61-562,0-1-1,0 0 1,-1 0 0,1-1 0,-1 1 0,0-2 0,0 1 0,0-1-1,0 0 1,0 0 0,-1 0 0,-9 0 0,-12-1 409,-55-2 0,30-2 245,34 3-581,-18-1 222,0 1-1,1 2 1,-1 2 0,1 1-1,-38 11 1,65-13-273,0 0-1,-1 0 1,1-1 0,-1 0-1,1-1 1,-1 0 0,0-1 0,1 0-1,-1-1 1,-15-2 0,18-3 232,17 0-47,23-1 125,-27 6-354,199-46 1967,-138 36-1449,-50 9-346,1 0-1,-1-1 1,0-1-1,0 0 1,30-14-1,-30 11 52,0 1 0,32-7 0,-29 8-212,36-14-1,-49 16-85,-1 1-1,1-1 1,-1-1 0,0 1-1,0-1 1,0 0-1,-1 0 1,1 0 0,-1 0-1,6-8 1,27-58-1004,18-21 310,-49 82 577,0 0 1,-1-1-1,6-14 1,-8 15 65,1 0-1,0 1 1,0 0 0,1 0 0,9-11 0,40-44 25,-46 54 34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56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2699 1 4915,'-384'15'4007,"275"-11"-3116,72-3-382,-1 1 0,-40 7 0,54-6-189,-1 0 0,-31-2 0,33-1 46,0 1-1,-41 6 1,13 1 288,-1-3 0,0-2 0,-78-5-1,29 0 486,-451 2 3757,530 1-4490,-41 8 0,-11 0-328,-42 1-78,-40 1 0,126-11 0,2 0 0,1 0 0,0-2 0,-43-9 0,48 7 0,-1 2 0,0 0 0,-43 1 0,45 2 0,-1-1 0,1 0 0,-1-2 0,-31-7 0,40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50.6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2886 160 4915,'-42'-2'628,"0"-1"-1,0-3 1,0-1-1,-58-18 1,59 16-56,0 1 1,-48-2-1,-38-6 563,51 2 50,-80-5 0,61 11-335,-58-2 555,12 0 145,15 0-352,-334 10 2871,219 1-3479,124 9-590,4 0 0,-457-11 0,565 2 0,1-1 0,-1-1 0,0 1 0,1 0 0,-1-1 0,1 0 0,0 0 0,-1-1 0,1 1 0,0-1 0,0 0 0,-6-3 0,1-3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53.51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2656 120 4915,'-61'-2'1129,"0"-2"0,-73-16 0,-116-37 697,211 47-1402,5 2-15,-1 2 0,0 1 0,-1 1 0,-43 2 0,-64 1 911,-89 3 971,179 4-1429,-76 19-1,-25 3 783,41-14-398,16-2-188,-113 1 0,172-12-1058,-43 8 0,42-4 0,-42 0 0,53-5 0,1 0 0,-1-1 0,1 0 0,-44-10 0,38 6 0,0 1 0,0 1 0,0 2 0,-41 4 0,-5-1 0,41-2 0,21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3:59.6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760 0 4915,'0'47'855,"-1"-3"-214,2 1 0,11 75 0,-7-93-299,-2 0 1,1 31-1,-4-45-180,0 0 0,-1 0 1,-1 0-1,0 0 0,-1 0 0,-6 18 1,8-28-130,0-1 0,0 0 0,0 0 0,-1 0 0,1 0 0,-1-1 0,1 1 0,-1 0 0,0-1 0,0 1 0,0-1 0,0 1-1,0-1 1,0 0 0,0 0 0,0 0 0,0 0 0,0 0 0,-1 0 0,-3 0 0,-6 1 156,-1 0-1,-24 0 0,-3 0 251,-17 11 107,35-8-232,1 0 0,-1-1 0,-33 0 0,-31-5 471,-78 2 773,102 8-917,44-5-374,-1-1 0,-23 1 0,4-4 63,21-1-300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09.97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2765 100 4915,'-10'0'197,"-12"0"123,0 0 0,1-1 1,-1-1-1,0-1 1,-36-10-1,25 2 182,-2 2 0,1 1 0,-58-6 0,75 12-218,-1-2 0,-29-9 1,33 9-83,-1-1 0,1 2 0,-1 0 1,-22-1-1,-392 3 3959,192 3-2195,213-1-1638,1 2-1,0 1 0,-35 9 0,-35 6 689,-12-1-57,72-11-453,1-1 1,-64 2 0,-41-7 605,-109-3-1124,170-8 12,45 6 0,-46-2 0,-42 8 0,-133-4 0,232 0 0,1 0 0,0-2 0,-36-10 0,46 9 0,5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12.4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2834 23 10384,'-2833'0'0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19.0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1249 99 4915,'-3'-4'40,"0"1"0,-1 0 0,1 0 0,0 0 0,-1 0 0,0 0 0,0 1 0,1-1 0,-1 1 1,-1 0-1,1 1 0,0-1 0,0 1 0,-1 0 0,1 0 0,-1 0 0,-6 0 0,4 0 25,-34-2 504,1-2 0,-51-13-1,57 9-120,0 1-1,-1 2 1,0 1-1,-61 0 0,-255 6 2797,334 1-2965,17-1-271,0-1-1,0 0 1,0 0 0,0 0-1,0 0 1,0 0 0,0 1 0,0-1-1,0 0 1,0 0 0,0 0 0,0 0-1,0 1 1,0-1 0,0 0-1,0 0 1,0 0 0,0 0 0,0 1-1,0-1 1,0 0 0,0 0 0,0 0-1,0 0 1,0 0 0,0 1-1,0-1 1,0 0 0,0 0 0,1 0-1,-1 0 1,0 0 0,0 0 0,0 0-1,0 0 1,0 1 0,0-1-1,1 0 1,-1 0 0,0 0 0,0 0-1,0 0 1,0 0 0,1 0 0,-1 0-1,29 10 441,52-5 759,91-6 0,-56-1-47,-64 3-387,82 13 0,-101-11-341,0-1-1,40-3 1,40 2 616,-112-2-1028,0 1-1,0 0 1,0 0-1,1 0 1,-1 0-1,0 1 1,0-1-1,0 0 1,0 0-1,1 1 1,-1-1-1,0 1 1,0-1-1,0 1 1,0-1-1,0 1 1,2 1-1,-17 6 479,-36 5 111,-148 6-560,39-5-52,2 0 3,-242-9 0,218-7 0,104 2 0,60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23.91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2319 61 4915,'-153'2'1989,"-167"-4"900,283-2-2325,-50-12 0,57 9-124,-1 2 0,-55-3 0,81 8-406,-27 0 495,-1-1 1,-56-9-1,68 7-252,-1 0 1,1 1-1,-1 1 0,0 1 0,-40 5 1,15 4 608,-71 21 0,94-24-634,0-1-1,-1-1 1,-25 0 0,-36 5 618,-30 6 359,72-10-345,-79 17 1,86-13-629,0-3 0,-58 4-1,77-8-259,-40 6 4,39-4 0,0-2 0,-20 2 0,-31-3 0,-113-4 0,169 0 0,17-3 0,22-2 0,145-14 0,705-16 0,-338 38 0,-495 2 0,0 2 0,43 10 0,-43-7 0,0-1 0,43 1 0,-63-6 0,0 1 0,0 2 0,32 8 0,-32-6 0,1-1 0,0-1 0,24 1 0,16 4 0,-8 0 0,-39-8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35.4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0 293 14784,'1720'-292'0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45.9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1298 1 20609,'-1298'257'0,"4360"-257"0,-2998-257 0,-1892 257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4:59.1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11 19090,'2464'0'0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5:04.2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239 297 4915,'0'32'547,"1"-17"-353,0 0-1,-1 0 1,-1 0 0,-1-1 0,-3 18 0,4-29-154,0 0 1,0 0-1,0 0 1,-1 0-1,1 0 1,-1 0-1,0 0 1,0 0-1,0 0 1,0-1-1,0 1 1,0-1-1,-1 0 0,1 1 1,-1-1-1,0 0 1,1-1-1,-1 1 1,0 0-1,0-1 1,0 0-1,-1 1 1,1-1-1,0-1 1,0 1-1,0 0 1,-1-1-1,-3 1 1,-12 1 199,-1 0 0,0-2 0,0 0 1,0-1-1,-33-7 0,52 8-230,1 0-1,0 0 0,-1 0 0,1 0 0,0 0 1,-1 0-1,1-1 0,0 1 0,-1 0 1,1 0-1,0 0 0,-1 0 0,1-1 1,0 1-1,0 0 0,-1 0 0,1-1 1,0 1-1,0 0 0,0-1 0,-1 1 1,1 0-1,0 0 0,0-1 0,0 1 0,0 0 1,0-1-1,0 1 0,0 0 0,-1-1 1,1 1-1,0 0 0,0-1 0,0 1 1,1-1-1,7-13 30,25-13-233,-26 23 210,299-252-1027,-275 231 861,-1-1 0,46-53 1,-75 78 157,0 0 1,0 0-1,0 0 1,0 0 0,0 0-1,-1 0 1,1 0-1,0 0 1,-1 0 0,1-1-1,-1 1 1,1 0 0,-1-1-1,1 1 1,-1 0-1,0-1 1,0 1 0,0 0-1,0-1 1,0 1-1,0 0 1,0-3 0,-1 3 7,0 0 0,0 0 0,1 0 0,-1 0 0,0 0 0,0 0 0,0 0 0,0 0 0,0 1 0,-1-1 0,1 0 0,0 1 0,0-1 0,0 1 1,-1-1-1,1 1 0,0-1 0,-3 1 0,-8-2 130,-1 1 1,0 0 0,-23 2 0,27-1-84,0 0-4,-9 0 139,1 1 1,-1 1-1,0 0 0,-30 8 0,44-8-156,0-1-1,0 1 0,0-1 0,0 1 0,1 0 1,-1 0-1,1 1 0,-1-1 0,1 1 1,0 0-1,0-1 0,0 1 0,0 1 1,1-1-1,-1 0 0,1 1 0,0-1 0,0 1 1,0 0-1,0 0 0,1 0 0,-1 0 1,1 0-1,0 0 0,0 0 0,0 4 1,0 4 70,1-1 1,-1 1-1,2-1 1,0 1-1,0-1 1,1 1 0,0-1-1,1 0 1,0 0-1,1 0 1,8 16 0,-2-3 150,-9-18-197,1-1 0,0 1 0,1-1 0,-1 0 0,1 0 0,4 5 0,1-1-41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0T16:35:07.8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2253 1 15261,'502'278'0,"-1026"-43"0,1048-470 0,-3279 119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773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12" Type="http://schemas.openxmlformats.org/officeDocument/2006/relationships/customXml" Target="../ink/ink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6.png"/><Relationship Id="rId5" Type="http://schemas.openxmlformats.org/officeDocument/2006/relationships/image" Target="../media/image3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3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9.png"/><Relationship Id="rId4" Type="http://schemas.openxmlformats.org/officeDocument/2006/relationships/customXml" Target="../ink/ink6.xml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2.xml"/><Relationship Id="rId3" Type="http://schemas.openxmlformats.org/officeDocument/2006/relationships/image" Target="../media/image4.jpeg"/><Relationship Id="rId7" Type="http://schemas.openxmlformats.org/officeDocument/2006/relationships/customXml" Target="../ink/ink9.xm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customXml" Target="../ink/ink11.xml"/><Relationship Id="rId5" Type="http://schemas.openxmlformats.org/officeDocument/2006/relationships/image" Target="../media/image6.svg"/><Relationship Id="rId10" Type="http://schemas.openxmlformats.org/officeDocument/2006/relationships/image" Target="../media/image17.png"/><Relationship Id="rId4" Type="http://schemas.openxmlformats.org/officeDocument/2006/relationships/image" Target="../media/image5.svg"/><Relationship Id="rId9" Type="http://schemas.openxmlformats.org/officeDocument/2006/relationships/customXml" Target="../ink/ink10.xml"/><Relationship Id="rId1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image" Target="../media/image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5" Type="http://schemas.openxmlformats.org/officeDocument/2006/relationships/image" Target="../media/image21.png"/><Relationship Id="rId4" Type="http://schemas.openxmlformats.org/officeDocument/2006/relationships/customXml" Target="../ink/ink13.xml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customXml" Target="../ink/ink1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29.png"/><Relationship Id="rId4" Type="http://schemas.openxmlformats.org/officeDocument/2006/relationships/customXml" Target="../ink/ink1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3" Type="http://schemas.openxmlformats.org/officeDocument/2006/relationships/image" Target="../media/image16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20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0" Type="http://schemas.openxmlformats.org/officeDocument/2006/relationships/customXml" Target="../ink/ink26.xml"/><Relationship Id="rId4" Type="http://schemas.openxmlformats.org/officeDocument/2006/relationships/customXml" Target="../ink/ink23.xml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customXml" Target="../ink/ink28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0.xml"/><Relationship Id="rId3" Type="http://schemas.openxmlformats.org/officeDocument/2006/relationships/image" Target="../media/image2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48.png"/><Relationship Id="rId5" Type="http://schemas.openxmlformats.org/officeDocument/2006/relationships/image" Target="../media/image27.png"/><Relationship Id="rId10" Type="http://schemas.openxmlformats.org/officeDocument/2006/relationships/customXml" Target="../ink/ink31.xml"/><Relationship Id="rId4" Type="http://schemas.openxmlformats.org/officeDocument/2006/relationships/image" Target="../media/image25.png"/><Relationship Id="rId9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deep dive into 3,900 purchases — uncovering spending patterns, customer segments, and strategic opportunities.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3C830A-6D32-E6D4-FE99-87CBD7C61D7A}"/>
                  </a:ext>
                </a:extLst>
              </p14:cNvPr>
              <p14:cNvContentPartPr/>
              <p14:nvPr/>
            </p14:nvContentPartPr>
            <p14:xfrm>
              <a:off x="7483985" y="3286191"/>
              <a:ext cx="999720" cy="610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3C830A-6D32-E6D4-FE99-87CBD7C61D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65985" y="3268551"/>
                <a:ext cx="1035360" cy="64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D19DEF0-D5CF-2ACC-13FA-C9767E5A740D}"/>
                  </a:ext>
                </a:extLst>
              </p14:cNvPr>
              <p14:cNvContentPartPr/>
              <p14:nvPr/>
            </p14:nvContentPartPr>
            <p14:xfrm>
              <a:off x="8137745" y="4979631"/>
              <a:ext cx="86616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D19DEF0-D5CF-2ACC-13FA-C9767E5A74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75105" y="4853631"/>
                <a:ext cx="9918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4B43D01-ABEC-0A10-982E-F3B23573FFE4}"/>
                  </a:ext>
                </a:extLst>
              </p14:cNvPr>
              <p14:cNvContentPartPr/>
              <p14:nvPr/>
            </p14:nvContentPartPr>
            <p14:xfrm>
              <a:off x="8081585" y="4874151"/>
              <a:ext cx="93600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4B43D01-ABEC-0A10-982E-F3B23573FFE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18945" y="4748151"/>
                <a:ext cx="10616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6E389FF-4D31-81D8-2AE7-D9CA3EFFA413}"/>
                  </a:ext>
                </a:extLst>
              </p14:cNvPr>
              <p14:cNvContentPartPr/>
              <p14:nvPr/>
            </p14:nvContentPartPr>
            <p14:xfrm>
              <a:off x="8095625" y="4937511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6E389FF-4D31-81D8-2AE7-D9CA3EFFA41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32985" y="4874871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C3A96AE-77D8-B083-B175-1F007CCC7D39}"/>
                  </a:ext>
                </a:extLst>
              </p14:cNvPr>
              <p14:cNvContentPartPr/>
              <p14:nvPr/>
            </p14:nvContentPartPr>
            <p14:xfrm>
              <a:off x="8068985" y="4937511"/>
              <a:ext cx="873720" cy="10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C3A96AE-77D8-B083-B175-1F007CCC7D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005985" y="4874871"/>
                <a:ext cx="999360" cy="234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76921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32509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analyzes customer shopping behavior using transactional data from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purchases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various product categories. The goal is to uncover insights into spending patterns, customer segments, product preferences, and subscription behavior to guide strategic business decisions.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32A2F76-5A67-73F3-6A3F-8290C91532D5}"/>
                  </a:ext>
                </a:extLst>
              </p14:cNvPr>
              <p14:cNvContentPartPr/>
              <p14:nvPr/>
            </p14:nvContentPartPr>
            <p14:xfrm>
              <a:off x="8014985" y="4806831"/>
              <a:ext cx="1007280" cy="138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32A2F76-5A67-73F3-6A3F-8290C91532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2345" y="4743831"/>
                <a:ext cx="11329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360C710-1D36-E590-0A0E-EED5EFB1FA52}"/>
                  </a:ext>
                </a:extLst>
              </p14:cNvPr>
              <p14:cNvContentPartPr/>
              <p14:nvPr/>
            </p14:nvContentPartPr>
            <p14:xfrm>
              <a:off x="8873585" y="4979631"/>
              <a:ext cx="183960" cy="16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360C710-1D36-E590-0A0E-EED5EFB1FA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10585" y="4916631"/>
                <a:ext cx="309600" cy="14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382844C-48A0-5949-F70A-B2775BD0117D}"/>
                  </a:ext>
                </a:extLst>
              </p14:cNvPr>
              <p14:cNvContentPartPr/>
              <p14:nvPr/>
            </p14:nvContentPartPr>
            <p14:xfrm>
              <a:off x="8088425" y="5007711"/>
              <a:ext cx="90072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382844C-48A0-5949-F70A-B2775BD011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25785" y="4944711"/>
                <a:ext cx="1026360" cy="12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6400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Summary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55154"/>
            <a:ext cx="5198418" cy="29457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5644" y="1228353"/>
            <a:ext cx="2666926" cy="7155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74432" y="1359991"/>
            <a:ext cx="23464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6174432" y="1640607"/>
            <a:ext cx="2346499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purchases</a:t>
            </a: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18 features per record</a:t>
            </a:r>
            <a:endParaRPr lang="en-US" sz="9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644" y="2041103"/>
            <a:ext cx="2666926" cy="14022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74432" y="2172742"/>
            <a:ext cx="23464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1150" dirty="0"/>
          </a:p>
        </p:txBody>
      </p:sp>
      <p:sp>
        <p:nvSpPr>
          <p:cNvPr id="9" name="Text 4"/>
          <p:cNvSpPr/>
          <p:nvPr/>
        </p:nvSpPr>
        <p:spPr>
          <a:xfrm>
            <a:off x="6174432" y="2453357"/>
            <a:ext cx="2346499" cy="8583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Age, Gender, Location, Subscription Status, Item Purchased, Category, Purchase Amount, Season, Size, Color, Discount Applied, Promo Code Used, Previous Purchases, Frequency of Purchases, Review Rating, Shipping Type</a:t>
            </a:r>
            <a:endParaRPr lang="en-US" sz="9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5644" y="3540547"/>
            <a:ext cx="2666926" cy="8872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74432" y="3672185"/>
            <a:ext cx="234649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Data</a:t>
            </a:r>
            <a:endParaRPr lang="en-US" sz="1150" dirty="0"/>
          </a:p>
        </p:txBody>
      </p:sp>
      <p:sp>
        <p:nvSpPr>
          <p:cNvPr id="12" name="Text 6"/>
          <p:cNvSpPr/>
          <p:nvPr/>
        </p:nvSpPr>
        <p:spPr>
          <a:xfrm>
            <a:off x="6174432" y="3952801"/>
            <a:ext cx="2346499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values in the Review Rating column — handled during cleaning</a:t>
            </a:r>
            <a:endParaRPr lang="en-US" sz="9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E722606-8DF3-79E2-2ACC-261848E60D25}"/>
                  </a:ext>
                </a:extLst>
              </p14:cNvPr>
              <p14:cNvContentPartPr/>
              <p14:nvPr/>
            </p14:nvContentPartPr>
            <p14:xfrm>
              <a:off x="8081585" y="4867311"/>
              <a:ext cx="964080" cy="5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E722606-8DF3-79E2-2ACC-261848E60D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18945" y="4804311"/>
                <a:ext cx="10897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FCB23A-5A8C-B10C-4BD1-DABF5CC7EA9F}"/>
                  </a:ext>
                </a:extLst>
              </p14:cNvPr>
              <p14:cNvContentPartPr/>
              <p14:nvPr/>
            </p14:nvContentPartPr>
            <p14:xfrm>
              <a:off x="7984025" y="4956951"/>
              <a:ext cx="1040760" cy="23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FCB23A-5A8C-B10C-4BD1-DABF5CC7EA9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21025" y="4894311"/>
                <a:ext cx="116640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4E5E9D8-8AB6-ED22-BE23-F103AD0B19E0}"/>
                  </a:ext>
                </a:extLst>
              </p14:cNvPr>
              <p14:cNvContentPartPr/>
              <p14:nvPr/>
            </p14:nvContentPartPr>
            <p14:xfrm>
              <a:off x="8123705" y="4965591"/>
              <a:ext cx="872640" cy="10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4E5E9D8-8AB6-ED22-BE23-F103AD0B19E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060705" y="4902951"/>
                <a:ext cx="99828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F66D475-3948-DBA2-D906-0B0E113E81FE}"/>
                  </a:ext>
                </a:extLst>
              </p14:cNvPr>
              <p14:cNvContentPartPr/>
              <p14:nvPr/>
            </p14:nvContentPartPr>
            <p14:xfrm>
              <a:off x="8552825" y="4972680"/>
              <a:ext cx="514080" cy="106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F66D475-3948-DBA2-D906-0B0E113E81F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490185" y="4910040"/>
                <a:ext cx="639720" cy="232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2832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Preparation &amp; Cleaning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41" y="1042169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284310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Deduplicate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8431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Engineer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28431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28431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284310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138612"/>
            <a:ext cx="8151763" cy="612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Review Rating values were imputed using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median rating by product category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New features included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(binned ages) and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After verifying redundancy between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discount_applied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0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the latter was dropped. The cleaned DataFrame was then loaded into PostgreSQL for SQL analysis.</a:t>
            </a:r>
            <a:endParaRPr lang="en-US" sz="1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5A13905-94DD-B0DD-A0F6-D5CFD5F08826}"/>
                  </a:ext>
                </a:extLst>
              </p14:cNvPr>
              <p14:cNvContentPartPr/>
              <p14:nvPr/>
            </p14:nvContentPartPr>
            <p14:xfrm>
              <a:off x="8088425" y="4909071"/>
              <a:ext cx="879480" cy="75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5A13905-94DD-B0DD-A0F6-D5CFD5F088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5785" y="4846431"/>
                <a:ext cx="100512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1DED346-C904-A12F-7869-4D0C9E9A5619}"/>
                  </a:ext>
                </a:extLst>
              </p14:cNvPr>
              <p14:cNvContentPartPr/>
              <p14:nvPr/>
            </p14:nvContentPartPr>
            <p14:xfrm>
              <a:off x="9003185" y="4951551"/>
              <a:ext cx="38520" cy="82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1DED346-C904-A12F-7869-4D0C9E9A56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0185" y="4888911"/>
                <a:ext cx="1641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76A5D4C-6805-5D70-303C-C56025963BDC}"/>
                  </a:ext>
                </a:extLst>
              </p14:cNvPr>
              <p14:cNvContentPartPr/>
              <p14:nvPr/>
            </p14:nvContentPartPr>
            <p14:xfrm>
              <a:off x="8126585" y="4958778"/>
              <a:ext cx="884160" cy="120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76A5D4C-6805-5D70-303C-C56025963BD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063585" y="4895778"/>
                <a:ext cx="1009800" cy="24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total revenue compared to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from female customers.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453432"/>
            <a:ext cx="3902943" cy="1006376"/>
          </a:xfrm>
          <a:prstGeom prst="roundRect">
            <a:avLst>
              <a:gd name="adj" fmla="val 5917"/>
            </a:avLst>
          </a:prstGeom>
          <a:solidFill>
            <a:srgbClr val="E1E1E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668488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616398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customers generate </a:t>
            </a: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2.1x more revenue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female customers — a significant gap that warrants targeted strategy for both segments.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33E32BA-EA6D-C008-1CC8-9BD7174F80A2}"/>
                  </a:ext>
                </a:extLst>
              </p14:cNvPr>
              <p14:cNvContentPartPr/>
              <p14:nvPr/>
            </p14:nvContentPartPr>
            <p14:xfrm>
              <a:off x="8075465" y="4904751"/>
              <a:ext cx="913320" cy="102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33E32BA-EA6D-C008-1CC8-9BD7174F80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12465" y="4842111"/>
                <a:ext cx="1038960" cy="227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57349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High-Spending Discount Users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496119" y="1111746"/>
            <a:ext cx="22860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496119" y="1698724"/>
            <a:ext cx="22860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 Users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96119" y="1975098"/>
            <a:ext cx="2286074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who used discounts yet spent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above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 average purchase amount of $59.76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32733" y="1111746"/>
            <a:ext cx="2286149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$97</a:t>
            </a:r>
            <a:endParaRPr lang="en-US" sz="3350" dirty="0"/>
          </a:p>
        </p:txBody>
      </p:sp>
      <p:sp>
        <p:nvSpPr>
          <p:cNvPr id="8" name="Text 5"/>
          <p:cNvSpPr/>
          <p:nvPr/>
        </p:nvSpPr>
        <p:spPr>
          <a:xfrm>
            <a:off x="2932733" y="1698724"/>
            <a:ext cx="2286149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Spender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32733" y="1975098"/>
            <a:ext cx="2286149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9 — highest individual spend among discount users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714426" y="2883917"/>
            <a:ext cx="2286074" cy="431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$90</a:t>
            </a:r>
            <a:endParaRPr lang="en-US" sz="3350" dirty="0"/>
          </a:p>
        </p:txBody>
      </p:sp>
      <p:sp>
        <p:nvSpPr>
          <p:cNvPr id="11" name="Text 8"/>
          <p:cNvSpPr/>
          <p:nvPr/>
        </p:nvSpPr>
        <p:spPr>
          <a:xfrm>
            <a:off x="1714426" y="3470895"/>
            <a:ext cx="228607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Runner-Up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714426" y="3747269"/>
            <a:ext cx="228607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4 and 20 — tied for second highest spend with discounts applied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6119" y="4284464"/>
            <a:ext cx="4722763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indicates strong </a:t>
            </a:r>
            <a:r>
              <a:rPr lang="en-US" sz="10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demand elasticity</a:t>
            </a: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discounts drive volume without sacrificing high-value purchases.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 Products by Rating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Favorites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 are tightly clustered between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3.78 and 3.86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suggesting consistent satisfaction across top-performing products. Accessories and footwear dominate the top tier.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49701" y="2648322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Gloves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3.86 avg rating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Sandals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3.84 avg rating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Boots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3.82 avg rating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Hat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3.80 avg rating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Skirt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3.78 avg rating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92D4E0F-BEC6-3389-E37D-D6B0A3836120}"/>
                  </a:ext>
                </a:extLst>
              </p14:cNvPr>
              <p14:cNvContentPartPr/>
              <p14:nvPr/>
            </p14:nvContentPartPr>
            <p14:xfrm rot="135000">
              <a:off x="8030704" y="4930923"/>
              <a:ext cx="927602" cy="125856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92D4E0F-BEC6-3389-E37D-D6B0A38361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 rot="135000">
                <a:off x="7967712" y="4867815"/>
                <a:ext cx="1053226" cy="251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1C0CC8E-1C16-04A4-3E3C-7EED07B5FE0D}"/>
                  </a:ext>
                </a:extLst>
              </p14:cNvPr>
              <p14:cNvContentPartPr/>
              <p14:nvPr/>
            </p14:nvContentPartPr>
            <p14:xfrm>
              <a:off x="8720225" y="4884840"/>
              <a:ext cx="333720" cy="201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1C0CC8E-1C16-04A4-3E3C-7EED07B5FE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657225" y="4822200"/>
                <a:ext cx="459360" cy="326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023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Shipping Type Comparison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657945"/>
            <a:ext cx="4722763" cy="1643211"/>
          </a:xfrm>
          <a:prstGeom prst="roundRect">
            <a:avLst>
              <a:gd name="adj" fmla="val 3624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29881" y="1662708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3"/>
          <p:cNvSpPr/>
          <p:nvPr/>
        </p:nvSpPr>
        <p:spPr>
          <a:xfrm>
            <a:off x="4071640" y="180446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 Shipping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110978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purchase amount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9881" y="2479551"/>
            <a:ext cx="4713238" cy="816843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0" y="0"/>
                </a:moveTo>
                <a:lnTo>
                  <a:pt x="4713238" y="0"/>
                </a:lnTo>
                <a:lnTo>
                  <a:pt x="4713238" y="767225"/>
                </a:lnTo>
                <a:arcTo wR="49619" hR="49619" stAng="0" swAng="5400000"/>
                <a:lnTo>
                  <a:pt x="49619" y="816843"/>
                </a:lnTo>
                <a:arcTo wR="49619" hR="49619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9" name="Shape 6"/>
          <p:cNvSpPr/>
          <p:nvPr/>
        </p:nvSpPr>
        <p:spPr>
          <a:xfrm>
            <a:off x="3929881" y="2479551"/>
            <a:ext cx="4713238" cy="19050"/>
          </a:xfrm>
          <a:prstGeom prst="roundRect">
            <a:avLst>
              <a:gd name="adj" fmla="val 50000"/>
            </a:avLst>
          </a:prstGeom>
          <a:solidFill>
            <a:srgbClr val="C7C7D0"/>
          </a:solidFill>
          <a:ln/>
        </p:spPr>
      </p:sp>
      <p:sp>
        <p:nvSpPr>
          <p:cNvPr id="10" name="Text 7"/>
          <p:cNvSpPr/>
          <p:nvPr/>
        </p:nvSpPr>
        <p:spPr>
          <a:xfrm>
            <a:off x="4071640" y="2621310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Express Shipping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071640" y="2927821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average purchase amount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925119" y="3460626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Express shipping users spend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3.5% more per transaction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standard shipping users. Customers who opt for faster delivery demonstrate higher purchase intent and willingness to spend.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9F64D72-A876-6744-971C-97D102F55D20}"/>
                  </a:ext>
                </a:extLst>
              </p14:cNvPr>
              <p14:cNvContentPartPr/>
              <p14:nvPr/>
            </p14:nvContentPartPr>
            <p14:xfrm>
              <a:off x="8080865" y="5000871"/>
              <a:ext cx="971640" cy="36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9F64D72-A876-6744-971C-97D102F55D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8225" y="4938231"/>
                <a:ext cx="109728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58A9CD4-29D7-AA0A-1D1A-533C4C376161}"/>
              </a:ext>
            </a:extLst>
          </p:cNvPr>
          <p:cNvGrpSpPr/>
          <p:nvPr/>
        </p:nvGrpSpPr>
        <p:grpSpPr>
          <a:xfrm>
            <a:off x="8027585" y="4873071"/>
            <a:ext cx="1039320" cy="205781"/>
            <a:chOff x="8027585" y="4873071"/>
            <a:chExt cx="1039320" cy="205781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7B5FD8-2A04-326E-1889-E9CA9DD8C19A}"/>
                    </a:ext>
                  </a:extLst>
                </p14:cNvPr>
                <p14:cNvContentPartPr/>
                <p14:nvPr/>
              </p14:nvContentPartPr>
              <p14:xfrm>
                <a:off x="8027585" y="4873071"/>
                <a:ext cx="1039320" cy="5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7B5FD8-2A04-326E-1889-E9CA9DD8C19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964585" y="4810071"/>
                  <a:ext cx="1164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805023E-5643-A5F6-EF26-423C95FCDE2A}"/>
                    </a:ext>
                  </a:extLst>
                </p14:cNvPr>
                <p14:cNvContentPartPr/>
                <p14:nvPr/>
              </p14:nvContentPartPr>
              <p14:xfrm>
                <a:off x="8054225" y="4936791"/>
                <a:ext cx="956160" cy="43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805023E-5643-A5F6-EF26-423C95FCDE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991585" y="4874151"/>
                  <a:ext cx="10818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70822F3-2A65-A947-66B1-1EF4A92B97FC}"/>
                    </a:ext>
                  </a:extLst>
                </p14:cNvPr>
                <p14:cNvContentPartPr/>
                <p14:nvPr/>
              </p14:nvContentPartPr>
              <p14:xfrm>
                <a:off x="8764865" y="4874372"/>
                <a:ext cx="282240" cy="204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70822F3-2A65-A947-66B1-1EF4A92B97F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02225" y="4811372"/>
                  <a:ext cx="407880" cy="330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602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1078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223367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Breakdown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9701" y="1604293"/>
            <a:ext cx="3902943" cy="2145655"/>
          </a:xfrm>
          <a:prstGeom prst="roundRect">
            <a:avLst>
              <a:gd name="adj" fmla="val 277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49701" y="2244700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49701" y="2882726"/>
            <a:ext cx="390294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896296" y="1698873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Segment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69632" y="1698873"/>
            <a:ext cx="6898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42968" y="1698873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 Spend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16304" y="1698873"/>
            <a:ext cx="6898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96296" y="2336899"/>
            <a:ext cx="7800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69632" y="2336899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1,053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42968" y="2336899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$59.49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16304" y="2336899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$62,645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96296" y="2974925"/>
            <a:ext cx="78001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69632" y="2974925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2,847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42968" y="2974925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$59.87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16304" y="2974925"/>
            <a:ext cx="11470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$170,436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749701" y="3909417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Non-subscribers represent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 of the customer base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drive </a:t>
            </a:r>
            <a:r>
              <a:rPr lang="en-US" sz="11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73% of total revenue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 near-perfect proportional split that signals untapped subscription conversion potential.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BA5243E-2A90-7340-A24F-5B208E635FE0}"/>
                  </a:ext>
                </a:extLst>
              </p14:cNvPr>
              <p14:cNvContentPartPr/>
              <p14:nvPr/>
            </p14:nvContentPartPr>
            <p14:xfrm>
              <a:off x="8078345" y="4887831"/>
              <a:ext cx="995400" cy="36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BA5243E-2A90-7340-A24F-5B208E635F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15345" y="4824831"/>
                <a:ext cx="112104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3C890EC-F0C2-3BDD-1D92-3F666CF501EE}"/>
                  </a:ext>
                </a:extLst>
              </p14:cNvPr>
              <p14:cNvContentPartPr/>
              <p14:nvPr/>
            </p14:nvContentPartPr>
            <p14:xfrm>
              <a:off x="8060345" y="5007711"/>
              <a:ext cx="102024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3C890EC-F0C2-3BDD-1D92-3F666CF501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97705" y="4881711"/>
                <a:ext cx="114588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CE5528D-2E24-DA6C-A14A-38B5D935545A}"/>
                  </a:ext>
                </a:extLst>
              </p14:cNvPr>
              <p14:cNvContentPartPr/>
              <p14:nvPr/>
            </p14:nvContentPartPr>
            <p14:xfrm>
              <a:off x="8581985" y="4902231"/>
              <a:ext cx="450720" cy="43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CE5528D-2E24-DA6C-A14A-38B5D935545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18985" y="4839231"/>
                <a:ext cx="5763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C6383988-0612-3042-FECA-61741A2610F3}"/>
                  </a:ext>
                </a:extLst>
              </p14:cNvPr>
              <p14:cNvContentPartPr/>
              <p14:nvPr/>
            </p14:nvContentPartPr>
            <p14:xfrm>
              <a:off x="8140265" y="5000151"/>
              <a:ext cx="835200" cy="64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C6383988-0612-3042-FECA-61741A2610F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7265" y="4937511"/>
                <a:ext cx="960840" cy="190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0994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Discount-Dependent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9638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Products with Highest Discount Rates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4369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five products show the highest proportion of purchases made with a discount applied — signaling potential over-reliance on promotional pricing.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627635"/>
            <a:ext cx="1467371" cy="177180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627635"/>
            <a:ext cx="733648" cy="177180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2069753" y="2627635"/>
            <a:ext cx="33136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2981920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78298" y="2627635"/>
            <a:ext cx="1224781" cy="177180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298" y="2627635"/>
            <a:ext cx="608186" cy="177180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3909343" y="2627635"/>
            <a:ext cx="57403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78298" y="298192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Sneakers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0553" y="2627635"/>
            <a:ext cx="1236464" cy="177180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0553" y="2627635"/>
            <a:ext cx="606698" cy="177180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003280" y="2627635"/>
            <a:ext cx="56234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60553" y="298192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Coat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742807" y="2627635"/>
            <a:ext cx="1267420" cy="177180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42807" y="2627635"/>
            <a:ext cx="610493" cy="177180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8116491" y="2627635"/>
            <a:ext cx="531391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48%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42807" y="2981920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Sweater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96119" y="3557736"/>
            <a:ext cx="1271290" cy="177180"/>
          </a:xfrm>
          <a:prstGeom prst="roundRect">
            <a:avLst>
              <a:gd name="adj" fmla="val 33606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119" y="3557736"/>
            <a:ext cx="602159" cy="177180"/>
          </a:xfrm>
          <a:prstGeom prst="roundRect">
            <a:avLst>
              <a:gd name="adj" fmla="val 33606"/>
            </a:avLst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1873672" y="3557736"/>
            <a:ext cx="527447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47%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96119" y="3912022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Pants</a:t>
            </a:r>
            <a:endParaRPr lang="en-US" sz="13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A00F5E-6794-8C4F-50F9-40F2C9F62F26}"/>
                  </a:ext>
                </a:extLst>
              </p14:cNvPr>
              <p14:cNvContentPartPr/>
              <p14:nvPr/>
            </p14:nvContentPartPr>
            <p14:xfrm>
              <a:off x="8039465" y="4846071"/>
              <a:ext cx="619560" cy="105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A00F5E-6794-8C4F-50F9-40F2C9F62F2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76465" y="4783431"/>
                <a:ext cx="745200" cy="23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2B2279A-805D-4EAB-85B8-5EA887112B79}"/>
                  </a:ext>
                </a:extLst>
              </p14:cNvPr>
              <p14:cNvContentPartPr/>
              <p14:nvPr/>
            </p14:nvContentPartPr>
            <p14:xfrm rot="2">
              <a:off x="7884365" y="4931557"/>
              <a:ext cx="1125600" cy="92908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2B2279A-805D-4EAB-85B8-5EA887112B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 rot="2">
                <a:off x="7821352" y="4869140"/>
                <a:ext cx="1251267" cy="218101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80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Segmentation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39180" y="2013645"/>
            <a:ext cx="171643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80%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38" y="1141437"/>
            <a:ext cx="2093268" cy="20932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406899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Loyal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707309"/>
            <a:ext cx="26027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3,116 customers — the backbone of the business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713634" y="2013645"/>
            <a:ext cx="171643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18%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292" y="1141437"/>
            <a:ext cx="2093268" cy="20932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0572" y="3406899"/>
            <a:ext cx="2602781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0572" y="3707309"/>
            <a:ext cx="260278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701 customers — showing repeat engagement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88162" y="2013645"/>
            <a:ext cx="171643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2%</a:t>
            </a:r>
            <a:endParaRPr lang="en-US" sz="2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820" y="1141437"/>
            <a:ext cx="2093268" cy="20932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45026" y="3406899"/>
            <a:ext cx="2602855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New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045026" y="3707309"/>
            <a:ext cx="260285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 customers — early-stage acquisition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96119" y="4304705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0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majority of the customer base consists of loyal repeat buyers</a:t>
            </a: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representing a strong foundation for retention-focused strategies. Growing the New and Returning segments presents the clearest path to incremental revenue growth.</a:t>
            </a:r>
            <a:endParaRPr lang="en-US" sz="10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8DFA941-322A-1376-A31E-111EE9D746D7}"/>
                  </a:ext>
                </a:extLst>
              </p14:cNvPr>
              <p14:cNvContentPartPr/>
              <p14:nvPr/>
            </p14:nvContentPartPr>
            <p14:xfrm>
              <a:off x="8088425" y="4944711"/>
              <a:ext cx="887400" cy="7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8DFA941-322A-1376-A31E-111EE9D746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25785" y="4818711"/>
                <a:ext cx="10130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8EDBFE8-91F6-47B6-1BBC-268FA361542F}"/>
                  </a:ext>
                </a:extLst>
              </p14:cNvPr>
              <p14:cNvContentPartPr/>
              <p14:nvPr/>
            </p14:nvContentPartPr>
            <p14:xfrm>
              <a:off x="8945585" y="4837791"/>
              <a:ext cx="181440" cy="1792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8EDBFE8-91F6-47B6-1BBC-268FA36154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882585" y="4775151"/>
                <a:ext cx="3070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BB627CC-3D6B-EBC3-AE59-E3FB6737A1FC}"/>
                  </a:ext>
                </a:extLst>
              </p14:cNvPr>
              <p14:cNvContentPartPr/>
              <p14:nvPr/>
            </p14:nvContentPartPr>
            <p14:xfrm>
              <a:off x="8053505" y="4970631"/>
              <a:ext cx="992160" cy="1854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BB627CC-3D6B-EBC3-AE59-E3FB6737A1F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90505" y="4907991"/>
                <a:ext cx="1117800" cy="311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3EB8634-425D-3B06-FA08-32C633FA35DE}"/>
              </a:ext>
            </a:extLst>
          </p:cNvPr>
          <p:cNvSpPr/>
          <p:nvPr/>
        </p:nvSpPr>
        <p:spPr>
          <a:xfrm>
            <a:off x="496119" y="395808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Strategic Recommendation</a:t>
            </a:r>
            <a:endParaRPr lang="en-US" sz="27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FAB572D-8E84-5794-A387-4EC85C547989}"/>
              </a:ext>
            </a:extLst>
          </p:cNvPr>
          <p:cNvSpPr/>
          <p:nvPr/>
        </p:nvSpPr>
        <p:spPr>
          <a:xfrm>
            <a:off x="496119" y="1057797"/>
            <a:ext cx="4713238" cy="740759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4" name="Image 1" descr="preencoded.png">
            <a:extLst>
              <a:ext uri="{FF2B5EF4-FFF2-40B4-BE49-F238E27FC236}">
                <a16:creationId xmlns:a16="http://schemas.microsoft.com/office/drawing/2014/main" id="{BF82F27A-0B59-9152-F5F8-ABAEBA98F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99" y="1127172"/>
            <a:ext cx="157153" cy="196441"/>
          </a:xfrm>
          <a:prstGeom prst="rect">
            <a:avLst/>
          </a:prstGeom>
        </p:spPr>
      </p:pic>
      <p:sp>
        <p:nvSpPr>
          <p:cNvPr id="26" name="Shape 2">
            <a:extLst>
              <a:ext uri="{FF2B5EF4-FFF2-40B4-BE49-F238E27FC236}">
                <a16:creationId xmlns:a16="http://schemas.microsoft.com/office/drawing/2014/main" id="{6AC62B9B-5017-5323-BC27-2E1C384A9FD8}"/>
              </a:ext>
            </a:extLst>
          </p:cNvPr>
          <p:cNvSpPr/>
          <p:nvPr/>
        </p:nvSpPr>
        <p:spPr>
          <a:xfrm>
            <a:off x="496119" y="1942620"/>
            <a:ext cx="4713238" cy="740759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8" name="Shape 2">
            <a:extLst>
              <a:ext uri="{FF2B5EF4-FFF2-40B4-BE49-F238E27FC236}">
                <a16:creationId xmlns:a16="http://schemas.microsoft.com/office/drawing/2014/main" id="{D8BD8800-C2A1-C13E-33AC-A6EB0997BEBA}"/>
              </a:ext>
            </a:extLst>
          </p:cNvPr>
          <p:cNvSpPr/>
          <p:nvPr/>
        </p:nvSpPr>
        <p:spPr>
          <a:xfrm>
            <a:off x="496119" y="2827443"/>
            <a:ext cx="4713238" cy="740759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0AC8AD81-7ABD-E902-A9C9-B45CAE31BE4B}"/>
              </a:ext>
            </a:extLst>
          </p:cNvPr>
          <p:cNvSpPr/>
          <p:nvPr/>
        </p:nvSpPr>
        <p:spPr>
          <a:xfrm>
            <a:off x="496119" y="3707447"/>
            <a:ext cx="4713238" cy="740759"/>
          </a:xfrm>
          <a:custGeom>
            <a:avLst/>
            <a:gdLst/>
            <a:ahLst/>
            <a:cxnLst/>
            <a:rect l="l" t="t" r="r" b="b"/>
            <a:pathLst>
              <a:path w="4713238" h="816843">
                <a:moveTo>
                  <a:pt x="49619" y="0"/>
                </a:moveTo>
                <a:lnTo>
                  <a:pt x="4663619" y="0"/>
                </a:lnTo>
                <a:arcTo wR="49619" hR="49619" stAng="16200000" swAng="5400000"/>
                <a:lnTo>
                  <a:pt x="4713238" y="816843"/>
                </a:lnTo>
                <a:lnTo>
                  <a:pt x="0" y="816843"/>
                </a:lnTo>
                <a:lnTo>
                  <a:pt x="0" y="49619"/>
                </a:lnTo>
                <a:arcTo wR="49619" hR="49619" stAng="10800000" swAng="5400000"/>
                <a:close/>
              </a:path>
            </a:pathLst>
          </a:custGeom>
          <a:solidFill>
            <a:srgbClr val="E1E1E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2" name="Image 2" descr="preencoded.png">
            <a:extLst>
              <a:ext uri="{FF2B5EF4-FFF2-40B4-BE49-F238E27FC236}">
                <a16:creationId xmlns:a16="http://schemas.microsoft.com/office/drawing/2014/main" id="{4DF1636C-586D-02E0-A06F-2335A3F12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42" y="2003377"/>
            <a:ext cx="159810" cy="199763"/>
          </a:xfrm>
          <a:prstGeom prst="rect">
            <a:avLst/>
          </a:prstGeom>
        </p:spPr>
      </p:pic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C38ADBB2-69C5-6E44-333A-13138723B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9" y="2895716"/>
            <a:ext cx="161123" cy="201404"/>
          </a:xfrm>
          <a:prstGeom prst="rect">
            <a:avLst/>
          </a:prstGeom>
        </p:spPr>
      </p:pic>
      <p:sp>
        <p:nvSpPr>
          <p:cNvPr id="52" name="Text 3">
            <a:extLst>
              <a:ext uri="{FF2B5EF4-FFF2-40B4-BE49-F238E27FC236}">
                <a16:creationId xmlns:a16="http://schemas.microsoft.com/office/drawing/2014/main" id="{A3CEDB1B-7F95-2E77-1B63-E5C6EAA35D89}"/>
              </a:ext>
            </a:extLst>
          </p:cNvPr>
          <p:cNvSpPr/>
          <p:nvPr/>
        </p:nvSpPr>
        <p:spPr>
          <a:xfrm>
            <a:off x="647942" y="1325916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050" dirty="0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A9A6F897-302E-2481-1C81-F6A43234A3B9}"/>
              </a:ext>
            </a:extLst>
          </p:cNvPr>
          <p:cNvSpPr/>
          <p:nvPr/>
        </p:nvSpPr>
        <p:spPr>
          <a:xfrm>
            <a:off x="655664" y="1494221"/>
            <a:ext cx="308913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800" dirty="0"/>
          </a:p>
        </p:txBody>
      </p:sp>
      <p:sp>
        <p:nvSpPr>
          <p:cNvPr id="58" name="Text 7">
            <a:extLst>
              <a:ext uri="{FF2B5EF4-FFF2-40B4-BE49-F238E27FC236}">
                <a16:creationId xmlns:a16="http://schemas.microsoft.com/office/drawing/2014/main" id="{C457BC14-B53C-071B-8347-5243DD4EAA9D}"/>
              </a:ext>
            </a:extLst>
          </p:cNvPr>
          <p:cNvSpPr/>
          <p:nvPr/>
        </p:nvSpPr>
        <p:spPr>
          <a:xfrm>
            <a:off x="647942" y="2197847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050" dirty="0"/>
          </a:p>
        </p:txBody>
      </p:sp>
      <p:sp>
        <p:nvSpPr>
          <p:cNvPr id="60" name="Text 8">
            <a:extLst>
              <a:ext uri="{FF2B5EF4-FFF2-40B4-BE49-F238E27FC236}">
                <a16:creationId xmlns:a16="http://schemas.microsoft.com/office/drawing/2014/main" id="{8111B7FB-7306-33BE-58F9-4F3E8F0528CE}"/>
              </a:ext>
            </a:extLst>
          </p:cNvPr>
          <p:cNvSpPr/>
          <p:nvPr/>
        </p:nvSpPr>
        <p:spPr>
          <a:xfrm>
            <a:off x="655664" y="2360021"/>
            <a:ext cx="2368355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800" dirty="0"/>
          </a:p>
        </p:txBody>
      </p:sp>
      <p:sp>
        <p:nvSpPr>
          <p:cNvPr id="63" name="Star: 5 Points 62">
            <a:extLst>
              <a:ext uri="{FF2B5EF4-FFF2-40B4-BE49-F238E27FC236}">
                <a16:creationId xmlns:a16="http://schemas.microsoft.com/office/drawing/2014/main" id="{B5393303-F91A-AF4E-E7C9-D817A843C67D}"/>
              </a:ext>
            </a:extLst>
          </p:cNvPr>
          <p:cNvSpPr/>
          <p:nvPr/>
        </p:nvSpPr>
        <p:spPr>
          <a:xfrm>
            <a:off x="647942" y="3793078"/>
            <a:ext cx="159810" cy="140676"/>
          </a:xfrm>
          <a:prstGeom prst="star5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427250C0-DF5A-3397-1CAA-8CFE760CD0ED}"/>
              </a:ext>
            </a:extLst>
          </p:cNvPr>
          <p:cNvSpPr/>
          <p:nvPr/>
        </p:nvSpPr>
        <p:spPr>
          <a:xfrm>
            <a:off x="655664" y="3105973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050" dirty="0"/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7136E13C-3946-4CC7-51B8-2F75828B91DD}"/>
              </a:ext>
            </a:extLst>
          </p:cNvPr>
          <p:cNvSpPr/>
          <p:nvPr/>
        </p:nvSpPr>
        <p:spPr>
          <a:xfrm>
            <a:off x="655664" y="3278626"/>
            <a:ext cx="383793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800" dirty="0"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013A5712-69B1-0FCD-C9FB-F605C12E0E8B}"/>
              </a:ext>
            </a:extLst>
          </p:cNvPr>
          <p:cNvSpPr/>
          <p:nvPr/>
        </p:nvSpPr>
        <p:spPr>
          <a:xfrm>
            <a:off x="643877" y="3963541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050" dirty="0"/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B1D98D3E-CC34-67CB-FC57-AE207C60D0EC}"/>
              </a:ext>
            </a:extLst>
          </p:cNvPr>
          <p:cNvSpPr/>
          <p:nvPr/>
        </p:nvSpPr>
        <p:spPr>
          <a:xfrm>
            <a:off x="655664" y="4118054"/>
            <a:ext cx="3235507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8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800" dirty="0"/>
          </a:p>
        </p:txBody>
      </p:sp>
      <p:pic>
        <p:nvPicPr>
          <p:cNvPr id="77" name="Image 0" descr="preencoded.png">
            <a:extLst>
              <a:ext uri="{FF2B5EF4-FFF2-40B4-BE49-F238E27FC236}">
                <a16:creationId xmlns:a16="http://schemas.microsoft.com/office/drawing/2014/main" id="{233708CE-8360-974C-8CD0-10C2C5A9B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3458" y="-105510"/>
            <a:ext cx="3429000" cy="523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6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614</Words>
  <Application>Microsoft Office PowerPoint</Application>
  <PresentationFormat>On-screen Show (16:9)</PresentationFormat>
  <Paragraphs>106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 Bold</vt:lpstr>
      <vt:lpstr>Libre Baskerville</vt:lpstr>
      <vt:lpstr>Arial</vt:lpstr>
      <vt:lpstr>DM Sans</vt:lpstr>
      <vt:lpstr>Roboto</vt:lpstr>
      <vt:lpstr>Raleway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</dc:creator>
  <cp:lastModifiedBy>Samruddhi Mahadeshwar</cp:lastModifiedBy>
  <cp:revision>3</cp:revision>
  <dcterms:created xsi:type="dcterms:W3CDTF">2026-08-10T16:25:23Z</dcterms:created>
  <dcterms:modified xsi:type="dcterms:W3CDTF">2026-08-11T07:42:30Z</dcterms:modified>
</cp:coreProperties>
</file>